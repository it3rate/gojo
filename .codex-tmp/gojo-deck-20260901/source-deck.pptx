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b0f7eba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b0f7eba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b0f7eba9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b0f7eba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b0f7eba9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b0f7eba9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b0f7eba9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b0f7eba9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b0f7eba9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b0f7eba9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b0f7eba9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b0f7eba9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b0f7eba9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b0f7eba9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f7eba9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f7eba9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b0f7eba9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b0f7eba9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07650" y="963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The thesis</a:t>
            </a:r>
            <a:endParaRPr b="1" sz="2000">
              <a:latin typeface="Staatliches"/>
              <a:ea typeface="Staatliches"/>
              <a:cs typeface="Staatliches"/>
              <a:sym typeface="Staatliches"/>
            </a:endParaRPr>
          </a:p>
        </p:txBody>
      </p:sp>
      <p:sp>
        <p:nvSpPr>
          <p:cNvPr id="55" name="Google Shape;55;p13"/>
          <p:cNvSpPr txBox="1"/>
          <p:nvPr/>
        </p:nvSpPr>
        <p:spPr>
          <a:xfrm>
            <a:off x="4568100" y="418225"/>
            <a:ext cx="30000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2"/>
                </a:solidFill>
                <a:latin typeface="Montserrat"/>
                <a:ea typeface="Montserrat"/>
                <a:cs typeface="Montserrat"/>
                <a:sym typeface="Montserrat"/>
              </a:rPr>
              <a:t>Local problem solving with local connections create an intelligence</a:t>
            </a:r>
            <a:endParaRPr b="1" sz="10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000">
                <a:solidFill>
                  <a:schemeClr val="dk2"/>
                </a:solidFill>
                <a:latin typeface="Montserrat"/>
                <a:ea typeface="Montserrat"/>
                <a:cs typeface="Montserrat"/>
                <a:sym typeface="Montserrat"/>
              </a:rPr>
              <a:t> - intelligence is a problem solving network, at every nested level. </a:t>
            </a:r>
            <a:endParaRPr sz="10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000">
                <a:solidFill>
                  <a:schemeClr val="dk2"/>
                </a:solidFill>
                <a:latin typeface="Montserrat"/>
                <a:ea typeface="Montserrat"/>
                <a:cs typeface="Montserrat"/>
                <a:sym typeface="Montserrat"/>
              </a:rPr>
              <a:t> - local does not mean small scope. It means a simple model with computable relations.</a:t>
            </a:r>
            <a:endParaRPr sz="10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000">
                <a:solidFill>
                  <a:schemeClr val="dk2"/>
                </a:solidFill>
                <a:latin typeface="Montserrat"/>
                <a:ea typeface="Montserrat"/>
                <a:cs typeface="Montserrat"/>
                <a:sym typeface="Montserrat"/>
              </a:rPr>
              <a:t> - network connections can be sibling, parent, or child, but they must be direct and locally relevant.</a:t>
            </a:r>
            <a:endParaRPr sz="10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000">
                <a:solidFill>
                  <a:schemeClr val="dk2"/>
                </a:solidFill>
                <a:latin typeface="Montserrat"/>
                <a:ea typeface="Montserrat"/>
                <a:cs typeface="Montserrat"/>
                <a:sym typeface="Montserrat"/>
              </a:rPr>
              <a:t> - the local spaces are ‘selves’ on their own, like groups of cells make people, and groups of people make cultures. This is new intelligence </a:t>
            </a:r>
            <a:r>
              <a:rPr i="1" lang="en" sz="1000">
                <a:solidFill>
                  <a:schemeClr val="dk2"/>
                </a:solidFill>
                <a:latin typeface="Montserrat"/>
                <a:ea typeface="Montserrat"/>
                <a:cs typeface="Montserrat"/>
                <a:sym typeface="Montserrat"/>
              </a:rPr>
              <a:t>in addition to</a:t>
            </a:r>
            <a:r>
              <a:rPr lang="en" sz="1000">
                <a:solidFill>
                  <a:schemeClr val="dk2"/>
                </a:solidFill>
                <a:latin typeface="Montserrat"/>
                <a:ea typeface="Montserrat"/>
                <a:cs typeface="Montserrat"/>
                <a:sym typeface="Montserrat"/>
              </a:rPr>
              <a:t> existing intelligence.</a:t>
            </a:r>
            <a:endParaRPr sz="10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000">
                <a:solidFill>
                  <a:schemeClr val="dk2"/>
                </a:solidFill>
                <a:latin typeface="Montserrat"/>
                <a:ea typeface="Montserrat"/>
                <a:cs typeface="Montserrat"/>
                <a:sym typeface="Montserrat"/>
              </a:rPr>
              <a:t>- the new intelligence can solve different problems. It is a completely different entity than its components - they are not scaled versions of each other.</a:t>
            </a:r>
            <a:endParaRPr sz="1000">
              <a:solidFill>
                <a:schemeClr val="dk2"/>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107650" y="963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requirements</a:t>
            </a:r>
            <a:endParaRPr b="1" sz="2000">
              <a:latin typeface="Staatliches"/>
              <a:ea typeface="Staatliches"/>
              <a:cs typeface="Staatliches"/>
              <a:sym typeface="Staatliches"/>
            </a:endParaRPr>
          </a:p>
        </p:txBody>
      </p:sp>
      <p:sp>
        <p:nvSpPr>
          <p:cNvPr id="61" name="Google Shape;61;p14"/>
          <p:cNvSpPr txBox="1"/>
          <p:nvPr/>
        </p:nvSpPr>
        <p:spPr>
          <a:xfrm>
            <a:off x="4568100" y="418225"/>
            <a:ext cx="4094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b="1" lang="en" sz="800">
                <a:solidFill>
                  <a:schemeClr val="dk2"/>
                </a:solidFill>
                <a:latin typeface="Montserrat"/>
                <a:ea typeface="Montserrat"/>
                <a:cs typeface="Montserrat"/>
                <a:sym typeface="Montserrat"/>
              </a:rPr>
              <a:t>Local problem solving in a distributed network requires:</a:t>
            </a:r>
            <a:r>
              <a:rPr lang="en" sz="800">
                <a:solidFill>
                  <a:schemeClr val="dk2"/>
                </a:solidFill>
                <a:latin typeface="Montserrat"/>
                <a:ea typeface="Montserrat"/>
                <a:cs typeface="Montserrat"/>
                <a:sym typeface="Montserrat"/>
              </a:rPr>
              <a:t>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a universal communication system (energy, bio-electricity, status, currency) </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participate with external factors without direct understanding of them</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communicate up and down scales as well across different contexts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accept and create external influence with only limited local forces and limited local connections</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It must avoid geometric complexity with scale</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accept, qualify and leverage unknowns</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take useful actions from known choices</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validate local improvements</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direct efforts in accordance with resources and priorities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800">
              <a:solidFill>
                <a:schemeClr val="dk2"/>
              </a:solidFill>
              <a:latin typeface="Montserrat"/>
              <a:ea typeface="Montserrat"/>
              <a:cs typeface="Montserrat"/>
              <a:sym typeface="Montserrat"/>
            </a:endParaRPr>
          </a:p>
        </p:txBody>
      </p:sp>
      <p:sp>
        <p:nvSpPr>
          <p:cNvPr id="62" name="Google Shape;62;p14"/>
          <p:cNvSpPr txBox="1"/>
          <p:nvPr/>
        </p:nvSpPr>
        <p:spPr>
          <a:xfrm>
            <a:off x="4568100" y="2665725"/>
            <a:ext cx="4299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Montserrat"/>
                <a:ea typeface="Montserrat"/>
                <a:cs typeface="Montserrat"/>
                <a:sym typeface="Montserrat"/>
              </a:rPr>
              <a:t>A 'solution' is the wrong goal, we are (always) creating a dynamic adaptive problem solver.</a:t>
            </a:r>
            <a:endParaRPr b="1"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a useful result will always contain error and uncertainty</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work is 'finished' when the effort/utility tradeoff makes it lower priority that other tasks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external changes can cause us to revisit the work, or apply what we know forward</a:t>
            </a:r>
            <a:endParaRPr sz="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nvSpPr>
        <p:spPr>
          <a:xfrm>
            <a:off x="107650" y="963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uncertainty</a:t>
            </a:r>
            <a:endParaRPr b="1" sz="2000">
              <a:latin typeface="Staatliches"/>
              <a:ea typeface="Staatliches"/>
              <a:cs typeface="Staatliches"/>
              <a:sym typeface="Staatliches"/>
            </a:endParaRPr>
          </a:p>
        </p:txBody>
      </p:sp>
      <p:sp>
        <p:nvSpPr>
          <p:cNvPr id="68" name="Google Shape;68;p15"/>
          <p:cNvSpPr txBox="1"/>
          <p:nvPr/>
        </p:nvSpPr>
        <p:spPr>
          <a:xfrm>
            <a:off x="4568100" y="418225"/>
            <a:ext cx="4376400" cy="252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Montserrat"/>
                <a:ea typeface="Montserrat"/>
                <a:cs typeface="Montserrat"/>
                <a:sym typeface="Montserrat"/>
              </a:rPr>
              <a:t>Uncertainty and error are the basis of intelligence</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Without uncertainty in the system, there is no room for decisions, and so no room for intelligence.</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Error is information about something unknown</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Goals are often to shift an unknown into some knowable, predictable, controllable representation.</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b="1" sz="800">
              <a:solidFill>
                <a:schemeClr val="dk2"/>
              </a:solidFill>
              <a:latin typeface="Montserrat"/>
              <a:ea typeface="Montserrat"/>
              <a:cs typeface="Montserrat"/>
              <a:sym typeface="Montserrat"/>
            </a:endParaRPr>
          </a:p>
          <a:p>
            <a:pPr indent="0" lvl="0" marL="0" rtl="0" algn="l">
              <a:spcBef>
                <a:spcPts val="0"/>
              </a:spcBef>
              <a:spcAft>
                <a:spcPts val="0"/>
              </a:spcAft>
              <a:buNone/>
            </a:pPr>
            <a:r>
              <a:rPr b="1" lang="en" sz="800">
                <a:solidFill>
                  <a:schemeClr val="dk2"/>
                </a:solidFill>
                <a:latin typeface="Montserrat"/>
                <a:ea typeface="Montserrat"/>
                <a:cs typeface="Montserrat"/>
                <a:sym typeface="Montserrat"/>
              </a:rPr>
              <a:t>The unknown is as important as the known, as all information contains both.</a:t>
            </a:r>
            <a:endParaRPr b="1"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a local space emits 'opinions' for locally known information</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a local space emits uncertainty from locally unknown information</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local inputs are from either the local environment, or the opinions of local connections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b="1" lang="en" sz="800">
                <a:solidFill>
                  <a:schemeClr val="dk2"/>
                </a:solidFill>
                <a:latin typeface="Montserrat"/>
                <a:ea typeface="Montserrat"/>
                <a:cs typeface="Montserrat"/>
                <a:sym typeface="Montserrat"/>
              </a:rPr>
              <a:t>Error in one locale is information in another.</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any non random measure is potential information</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uncertainty is routed to places of local authority by routes that harden with repeated mutual benefit</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the result is a dynamic web of information and unresolved tension</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local spaces (including people) correctly ignore most information</a:t>
            </a:r>
            <a:endParaRPr b="1" sz="800">
              <a:solidFill>
                <a:schemeClr val="dk2"/>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nvSpPr>
        <p:spPr>
          <a:xfrm>
            <a:off x="107650" y="963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communication</a:t>
            </a:r>
            <a:endParaRPr b="1" sz="2000">
              <a:latin typeface="Staatliches"/>
              <a:ea typeface="Staatliches"/>
              <a:cs typeface="Staatliches"/>
              <a:sym typeface="Staatliches"/>
            </a:endParaRPr>
          </a:p>
        </p:txBody>
      </p:sp>
      <p:sp>
        <p:nvSpPr>
          <p:cNvPr id="74" name="Google Shape;74;p16"/>
          <p:cNvSpPr txBox="1"/>
          <p:nvPr/>
        </p:nvSpPr>
        <p:spPr>
          <a:xfrm>
            <a:off x="4568100" y="206850"/>
            <a:ext cx="42531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Montserrat"/>
                <a:ea typeface="Montserrat"/>
                <a:cs typeface="Montserrat"/>
                <a:sym typeface="Montserrat"/>
              </a:rPr>
              <a:t>How local spaces cooperate with distant spaces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a local space emits 'opinions' of locally known information</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a local space tries to expel the uncertainty of local unknowns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local inputs are from either the local environment, or the opinions of local connections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the ideal local space perfectly accounts for its inputs, with all uncertainty exported</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local does not mean small scope. It means a simple model with computable relations.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connections can be sibling, parent, or child, but they must be direct and locally relevant.</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a:t>
            </a:r>
            <a:r>
              <a:rPr b="1" lang="en" sz="800">
                <a:solidFill>
                  <a:schemeClr val="dk2"/>
                </a:solidFill>
                <a:latin typeface="Montserrat"/>
                <a:ea typeface="Montserrat"/>
                <a:cs typeface="Montserrat"/>
                <a:sym typeface="Montserrat"/>
              </a:rPr>
              <a:t>the smallness of the local space means its </a:t>
            </a:r>
            <a:r>
              <a:rPr b="1" i="1" lang="en" sz="800">
                <a:solidFill>
                  <a:schemeClr val="dk2"/>
                </a:solidFill>
                <a:latin typeface="Montserrat"/>
                <a:ea typeface="Montserrat"/>
                <a:cs typeface="Montserrat"/>
                <a:sym typeface="Montserrat"/>
              </a:rPr>
              <a:t>ideas </a:t>
            </a:r>
            <a:r>
              <a:rPr b="1" lang="en" sz="800">
                <a:solidFill>
                  <a:schemeClr val="dk2"/>
                </a:solidFill>
                <a:latin typeface="Montserrat"/>
                <a:ea typeface="Montserrat"/>
                <a:cs typeface="Montserrat"/>
                <a:sym typeface="Montserrat"/>
              </a:rPr>
              <a:t>can only spread by </a:t>
            </a:r>
            <a:r>
              <a:rPr b="1" i="1" lang="en" sz="800">
                <a:solidFill>
                  <a:schemeClr val="dk2"/>
                </a:solidFill>
                <a:latin typeface="Montserrat"/>
                <a:ea typeface="Montserrat"/>
                <a:cs typeface="Montserrat"/>
                <a:sym typeface="Montserrat"/>
              </a:rPr>
              <a:t>recruiting </a:t>
            </a:r>
            <a:r>
              <a:rPr b="1" lang="en" sz="800">
                <a:solidFill>
                  <a:schemeClr val="dk2"/>
                </a:solidFill>
                <a:latin typeface="Montserrat"/>
                <a:ea typeface="Montserrat"/>
                <a:cs typeface="Montserrat"/>
                <a:sym typeface="Montserrat"/>
              </a:rPr>
              <a:t>its local neighbors</a:t>
            </a:r>
            <a:r>
              <a:rPr lang="en" sz="800">
                <a:solidFill>
                  <a:schemeClr val="dk2"/>
                </a:solidFill>
                <a:latin typeface="Montserrat"/>
                <a:ea typeface="Montserrat"/>
                <a:cs typeface="Montserrat"/>
                <a:sym typeface="Montserrat"/>
              </a:rPr>
              <a:t>. A better balance of tension is the best argument</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communication is interactive and never settled</a:t>
            </a:r>
            <a:endParaRPr sz="800">
              <a:solidFill>
                <a:schemeClr val="dk2"/>
              </a:solidFill>
              <a:latin typeface="Montserrat"/>
              <a:ea typeface="Montserrat"/>
              <a:cs typeface="Montserrat"/>
              <a:sym typeface="Montserrat"/>
            </a:endParaRPr>
          </a:p>
        </p:txBody>
      </p:sp>
      <p:sp>
        <p:nvSpPr>
          <p:cNvPr id="75" name="Google Shape;75;p16"/>
          <p:cNvSpPr txBox="1"/>
          <p:nvPr/>
        </p:nvSpPr>
        <p:spPr>
          <a:xfrm>
            <a:off x="107650" y="26972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scaling</a:t>
            </a:r>
            <a:endParaRPr b="1" sz="2000">
              <a:latin typeface="Staatliches"/>
              <a:ea typeface="Staatliches"/>
              <a:cs typeface="Staatliches"/>
              <a:sym typeface="Staatliches"/>
            </a:endParaRPr>
          </a:p>
        </p:txBody>
      </p:sp>
      <p:sp>
        <p:nvSpPr>
          <p:cNvPr id="76" name="Google Shape;76;p16"/>
          <p:cNvSpPr txBox="1"/>
          <p:nvPr/>
        </p:nvSpPr>
        <p:spPr>
          <a:xfrm>
            <a:off x="4568100" y="3019125"/>
            <a:ext cx="44409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Montserrat"/>
                <a:ea typeface="Montserrat"/>
                <a:cs typeface="Montserrat"/>
                <a:sym typeface="Montserrat"/>
              </a:rPr>
              <a:t>Complexity does not increase with scale</a:t>
            </a:r>
            <a:endParaRPr b="1"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There isn’t really scaling per se, there are just local spaces of different resolutions that are connected. </a:t>
            </a:r>
            <a:br>
              <a:rPr lang="en" sz="800">
                <a:solidFill>
                  <a:schemeClr val="dk2"/>
                </a:solidFill>
                <a:latin typeface="Montserrat"/>
                <a:ea typeface="Montserrat"/>
                <a:cs typeface="Montserrat"/>
                <a:sym typeface="Montserrat"/>
              </a:rPr>
            </a:br>
            <a:r>
              <a:rPr lang="en" sz="800">
                <a:solidFill>
                  <a:schemeClr val="dk2"/>
                </a:solidFill>
                <a:latin typeface="Montserrat"/>
                <a:ea typeface="Montserrat"/>
                <a:cs typeface="Montserrat"/>
                <a:sym typeface="Montserrat"/>
              </a:rPr>
              <a:t>- a local environment is limited to abstractions that can be usefully related with predictive power</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the quantity and precision of spaces will always be limited by exponential laws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a model of the solar system is not more complex than a model of a gear system, in spite of physical scale.</a:t>
            </a:r>
            <a:endParaRPr b="1" sz="800">
              <a:solidFill>
                <a:schemeClr val="dk2"/>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nvSpPr>
        <p:spPr>
          <a:xfrm>
            <a:off x="107650" y="963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context</a:t>
            </a:r>
            <a:endParaRPr b="1" sz="2000">
              <a:latin typeface="Staatliches"/>
              <a:ea typeface="Staatliches"/>
              <a:cs typeface="Staatliches"/>
              <a:sym typeface="Staatliches"/>
            </a:endParaRPr>
          </a:p>
        </p:txBody>
      </p:sp>
      <p:sp>
        <p:nvSpPr>
          <p:cNvPr id="82" name="Google Shape;82;p17"/>
          <p:cNvSpPr txBox="1"/>
          <p:nvPr/>
        </p:nvSpPr>
        <p:spPr>
          <a:xfrm>
            <a:off x="4568100" y="418225"/>
            <a:ext cx="36717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800">
                <a:solidFill>
                  <a:schemeClr val="dk2"/>
                </a:solidFill>
                <a:latin typeface="Montserrat"/>
                <a:ea typeface="Montserrat"/>
                <a:cs typeface="Montserrat"/>
                <a:sym typeface="Montserrat"/>
              </a:rPr>
              <a:t>Information has provenance, and it matters</a:t>
            </a:r>
            <a:endParaRPr b="1"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Primitives like distance, time, energy, or complexity greatly affect what predictive patterns will be useful.</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Most information is made of a loose blend of these primitive elements and their composites.</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We can crystalize structures into concepts that forget the original primitives, but the 'math' carries over.</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We don’t immediately relate 100kph to a 100km distance, speed it its own thing. Yet plowing a field at a certain speed will intuitively have ‘distance squared’ estimates.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Types are common approximate structures that are reasonably understood, and therefore are dynamic and malleable (like the flexibility of words)</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Types can have different aspects become the focus. A bridge can connect sides, or surmount an obstacle, or be painted red.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sz="800">
                <a:solidFill>
                  <a:schemeClr val="dk2"/>
                </a:solidFill>
                <a:latin typeface="Montserrat"/>
                <a:ea typeface="Montserrat"/>
                <a:cs typeface="Montserrat"/>
                <a:sym typeface="Montserrat"/>
              </a:rPr>
              <a:t>Contextual understanding means solutions can/must be more flexible</a:t>
            </a:r>
            <a:endParaRPr b="1"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All problem solvers are limited in what they directly sense, so intelligence comes from an evolved structure rather than a directive.</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Rather than encode the math of gear ratios (planned algorithms), we create a context that models and facilitates power transfer.</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Novel structures can appear and change local assumptions (e.g. belt drives vs gears), an intelligent system can adapt.</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sz="800">
                <a:solidFill>
                  <a:schemeClr val="dk2"/>
                </a:solidFill>
                <a:latin typeface="Montserrat"/>
                <a:ea typeface="Montserrat"/>
                <a:cs typeface="Montserrat"/>
                <a:sym typeface="Montserrat"/>
              </a:rPr>
              <a:t> </a:t>
            </a:r>
            <a:endParaRPr sz="800">
              <a:solidFill>
                <a:schemeClr val="dk2"/>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nvSpPr>
        <p:spPr>
          <a:xfrm>
            <a:off x="107650" y="963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perspectives</a:t>
            </a:r>
            <a:endParaRPr b="1" sz="2000">
              <a:latin typeface="Staatliches"/>
              <a:ea typeface="Staatliches"/>
              <a:cs typeface="Staatliches"/>
              <a:sym typeface="Staatliches"/>
            </a:endParaRPr>
          </a:p>
        </p:txBody>
      </p:sp>
      <p:sp>
        <p:nvSpPr>
          <p:cNvPr id="88" name="Google Shape;88;p18"/>
          <p:cNvSpPr txBox="1"/>
          <p:nvPr/>
        </p:nvSpPr>
        <p:spPr>
          <a:xfrm>
            <a:off x="4568100" y="418225"/>
            <a:ext cx="42177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800">
                <a:solidFill>
                  <a:schemeClr val="dk2"/>
                </a:solidFill>
                <a:latin typeface="Montserrat"/>
                <a:ea typeface="Montserrat"/>
                <a:cs typeface="Montserrat"/>
                <a:sym typeface="Montserrat"/>
              </a:rPr>
              <a:t>Perspective matters, it does not create reality but it can alter it</a:t>
            </a:r>
            <a:endParaRPr b="1"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A perspective can interpret information, but perspective alone can not alter it</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When wanting to alter reality, it starts with changing our perspective to a new state, possibly an error state</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If the local environment adapts and rearranges towards this 'error state' in a stable way, that can become a structure that generates this reality</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 - There is no privileged perspective. 2+2=5 might solve to 2+3=5, or 2+2=4. Both are correct, one may be more useful.</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sz="800">
                <a:solidFill>
                  <a:schemeClr val="dk2"/>
                </a:solidFill>
                <a:latin typeface="Montserrat"/>
                <a:ea typeface="Montserrat"/>
                <a:cs typeface="Montserrat"/>
                <a:sym typeface="Montserrat"/>
              </a:rPr>
              <a:t>Unknown is random, but perspective matters</a:t>
            </a:r>
            <a:endParaRPr b="1"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All input is </a:t>
            </a:r>
            <a:r>
              <a:rPr i="1" lang="en" sz="800">
                <a:solidFill>
                  <a:schemeClr val="dk2"/>
                </a:solidFill>
                <a:latin typeface="Montserrat"/>
                <a:ea typeface="Montserrat"/>
                <a:cs typeface="Montserrat"/>
                <a:sym typeface="Montserrat"/>
              </a:rPr>
              <a:t>computed </a:t>
            </a:r>
            <a:r>
              <a:rPr lang="en" sz="800">
                <a:solidFill>
                  <a:schemeClr val="dk2"/>
                </a:solidFill>
                <a:latin typeface="Montserrat"/>
                <a:ea typeface="Montserrat"/>
                <a:cs typeface="Montserrat"/>
                <a:sym typeface="Montserrat"/>
              </a:rPr>
              <a:t>to some degree, and the remainder can be modeled as random noise.</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This noise can be things we don't care about, don't know, can't know, thought we knew, or just resolution limits or expected variation</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An estimate is resolution limited, so ‘</a:t>
            </a:r>
            <a:r>
              <a:rPr i="1" lang="en" sz="800">
                <a:solidFill>
                  <a:schemeClr val="dk2"/>
                </a:solidFill>
                <a:latin typeface="Montserrat"/>
                <a:ea typeface="Montserrat"/>
                <a:cs typeface="Montserrat"/>
                <a:sym typeface="Montserrat"/>
              </a:rPr>
              <a:t>about one centimeter</a:t>
            </a:r>
            <a:r>
              <a:rPr lang="en" sz="800">
                <a:solidFill>
                  <a:schemeClr val="dk2"/>
                </a:solidFill>
                <a:latin typeface="Montserrat"/>
                <a:ea typeface="Montserrat"/>
                <a:cs typeface="Montserrat"/>
                <a:sym typeface="Montserrat"/>
              </a:rPr>
              <a:t>’ may plausibly be 9mm, 10mm or 10.5mm or 11mm</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Wrench sizes have set increments, 9mm, 10mm, 11mm, but these are stable points, not resolution limited.</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There are also truly random things that are not predictable that we still care about. </a:t>
            </a:r>
            <a:endParaRPr sz="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800">
                <a:solidFill>
                  <a:schemeClr val="dk2"/>
                </a:solidFill>
                <a:latin typeface="Montserrat"/>
                <a:ea typeface="Montserrat"/>
                <a:cs typeface="Montserrat"/>
                <a:sym typeface="Montserrat"/>
              </a:rPr>
              <a:t> - Unknowns have different desired transforms, and our perspective determines if we choose to accept, refine, or ignore.</a:t>
            </a:r>
            <a:endParaRPr b="1" sz="800">
              <a:solidFill>
                <a:schemeClr val="dk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nvSpPr>
        <p:spPr>
          <a:xfrm>
            <a:off x="107650" y="963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Why gojo</a:t>
            </a:r>
            <a:endParaRPr b="1" sz="2000">
              <a:latin typeface="Staatliches"/>
              <a:ea typeface="Staatliches"/>
              <a:cs typeface="Staatliches"/>
              <a:sym typeface="Staatliches"/>
            </a:endParaRPr>
          </a:p>
        </p:txBody>
      </p:sp>
      <p:sp>
        <p:nvSpPr>
          <p:cNvPr id="94" name="Google Shape;94;p19"/>
          <p:cNvSpPr txBox="1"/>
          <p:nvPr/>
        </p:nvSpPr>
        <p:spPr>
          <a:xfrm>
            <a:off x="4532600" y="1527975"/>
            <a:ext cx="30000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chemeClr val="dk2"/>
                </a:solidFill>
                <a:latin typeface="Montserrat"/>
                <a:ea typeface="Montserrat"/>
                <a:cs typeface="Montserrat"/>
                <a:sym typeface="Montserrat"/>
              </a:rPr>
              <a:t>Decimal does not encode the unknown</a:t>
            </a:r>
            <a:endParaRPr b="1"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The numeric equivalent of preserving drawn elements but not whitespace.</a:t>
            </a:r>
            <a:endParaRPr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The unknown part of the encoding (beyond resolution, error, unmeasured, unimportant) is where problem solving can happen. A math problem that states, I have 5 eggs, how many eggs do I have leaves no room for ‘solving’. I have 1 kilo of eggs, how many eggs do I have has enough uncertainty to allow thinking. This remains true at the number level.</a:t>
            </a:r>
            <a:endParaRPr sz="6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sz="600">
                <a:solidFill>
                  <a:schemeClr val="dk2"/>
                </a:solidFill>
                <a:latin typeface="Montserrat"/>
                <a:ea typeface="Montserrat"/>
                <a:cs typeface="Montserrat"/>
                <a:sym typeface="Montserrat"/>
              </a:rPr>
              <a:t>Decimal does not to preserve resolution</a:t>
            </a:r>
            <a:endParaRPr b="1" sz="6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600">
                <a:solidFill>
                  <a:schemeClr val="dk2"/>
                </a:solidFill>
                <a:latin typeface="Montserrat"/>
                <a:ea typeface="Montserrat"/>
                <a:cs typeface="Montserrat"/>
                <a:sym typeface="Montserrat"/>
              </a:rPr>
              <a:t> - expressing both the certainty and uncertainty of a value requires expressing both the value and context</a:t>
            </a:r>
            <a:endParaRPr sz="6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600">
                <a:solidFill>
                  <a:schemeClr val="dk2"/>
                </a:solidFill>
                <a:latin typeface="Montserrat"/>
                <a:ea typeface="Montserrat"/>
                <a:cs typeface="Montserrat"/>
                <a:sym typeface="Montserrat"/>
              </a:rPr>
              <a:t> - 1/3 has a coarser resolution than 100/300. A reduced fraction removes this information</a:t>
            </a:r>
            <a:endParaRPr sz="6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600">
                <a:solidFill>
                  <a:schemeClr val="dk2"/>
                </a:solidFill>
                <a:latin typeface="Montserrat"/>
                <a:ea typeface="Montserrat"/>
                <a:cs typeface="Montserrat"/>
                <a:sym typeface="Montserrat"/>
              </a:rPr>
              <a:t> - a decimal of 0.33333 implies a higher resolution than exists, and can only adjust this by orders of magnitude</a:t>
            </a:r>
            <a:endParaRPr sz="6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600">
                <a:solidFill>
                  <a:schemeClr val="dk2"/>
                </a:solidFill>
                <a:latin typeface="Montserrat"/>
                <a:ea typeface="Montserrat"/>
                <a:cs typeface="Montserrat"/>
                <a:sym typeface="Montserrat"/>
              </a:rPr>
              <a:t> - a 10/1mm wrench tells you the step resolution and size. 10/1mm on a 0.2mm carrier tells the precision as well.</a:t>
            </a:r>
            <a:endParaRPr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 - the encoding choices are not central, but this information must be preserved rather than discarded.</a:t>
            </a:r>
            <a:endParaRPr sz="600">
              <a:solidFill>
                <a:schemeClr val="dk2"/>
              </a:solidFill>
              <a:latin typeface="Montserrat"/>
              <a:ea typeface="Montserrat"/>
              <a:cs typeface="Montserrat"/>
              <a:sym typeface="Montserrat"/>
            </a:endParaRPr>
          </a:p>
          <a:p>
            <a:pPr indent="0" lvl="0" marL="0" rtl="0" algn="l">
              <a:spcBef>
                <a:spcPts val="0"/>
              </a:spcBef>
              <a:spcAft>
                <a:spcPts val="0"/>
              </a:spcAft>
              <a:buNone/>
            </a:pPr>
            <a:r>
              <a:rPr b="1" lang="en" sz="600">
                <a:solidFill>
                  <a:schemeClr val="dk2"/>
                </a:solidFill>
                <a:latin typeface="Montserrat"/>
                <a:ea typeface="Montserrat"/>
                <a:cs typeface="Montserrat"/>
                <a:sym typeface="Montserrat"/>
              </a:rPr>
              <a:t>Decimal does not encode orientation</a:t>
            </a:r>
            <a:endParaRPr b="1" sz="6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600">
                <a:solidFill>
                  <a:schemeClr val="dk2"/>
                </a:solidFill>
                <a:latin typeface="Montserrat"/>
                <a:ea typeface="Montserrat"/>
                <a:cs typeface="Montserrat"/>
                <a:sym typeface="Montserrat"/>
              </a:rPr>
              <a:t>Anything possible with order is valid math and needs to be encoded. We are used to a numberline increase from left to right, but there is an equally valid (but not identical) version where values increase in the opposite direction. Infact these two systems coexist in complex numbers, but our math must use a new dimension to represent these.</a:t>
            </a:r>
            <a:endParaRPr sz="600">
              <a:solidFill>
                <a:schemeClr val="dk2"/>
              </a:solidFill>
              <a:latin typeface="Montserrat"/>
              <a:ea typeface="Montserrat"/>
              <a:cs typeface="Montserrat"/>
              <a:sym typeface="Montserrat"/>
            </a:endParaRPr>
          </a:p>
          <a:p>
            <a:pPr indent="0" lvl="0" marL="0" rtl="0" algn="l">
              <a:spcBef>
                <a:spcPts val="0"/>
              </a:spcBef>
              <a:spcAft>
                <a:spcPts val="0"/>
              </a:spcAft>
              <a:buNone/>
            </a:pPr>
            <a:r>
              <a:rPr b="1" lang="en" sz="600">
                <a:solidFill>
                  <a:schemeClr val="dk2"/>
                </a:solidFill>
                <a:latin typeface="Montserrat"/>
                <a:ea typeface="Montserrat"/>
                <a:cs typeface="Montserrat"/>
                <a:sym typeface="Montserrat"/>
              </a:rPr>
              <a:t>Numbers to equations to heuristics are on a gradient</a:t>
            </a:r>
            <a:endParaRPr b="1"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Our numbers are infinitely precise, so they struggle to leave that domain. When estimating a distance we are really saying about 100.00000… km. When uncertainty is inherent in the number itself, the difference between a number and equation and estimate starts to blend. In reality decimal numbers are mini-equations themselves (32 -&gt; 3*10+2*1), but they can not easily become heuristics.</a:t>
            </a:r>
            <a:endParaRPr sz="600">
              <a:solidFill>
                <a:schemeClr val="dk2"/>
              </a:solidFill>
              <a:latin typeface="Montserrat"/>
              <a:ea typeface="Montserrat"/>
              <a:cs typeface="Montserrat"/>
              <a:sym typeface="Montserrat"/>
            </a:endParaRPr>
          </a:p>
        </p:txBody>
      </p:sp>
      <p:sp>
        <p:nvSpPr>
          <p:cNvPr id="95" name="Google Shape;95;p19"/>
          <p:cNvSpPr txBox="1"/>
          <p:nvPr/>
        </p:nvSpPr>
        <p:spPr>
          <a:xfrm>
            <a:off x="4532600" y="263975"/>
            <a:ext cx="3000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chemeClr val="dk2"/>
                </a:solidFill>
                <a:latin typeface="Montserrat"/>
                <a:ea typeface="Montserrat"/>
                <a:cs typeface="Montserrat"/>
                <a:sym typeface="Montserrat"/>
              </a:rPr>
              <a:t>Why not decimal numbers?</a:t>
            </a:r>
            <a:endParaRPr b="1"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This whole system could be represented in decimal numbers, they physics of magnitudes is unchanged, 5 is less than 6, and 3*4 is still 12. But it would be the decimal system emulating the Gojo system, making it a less physical representation. A more physical representation is ideal because truths are inspectable rather than derivable. As an example, math can have the Y axis positive up or positive down, where as with Gojo the orientation is part of every number. This means one system has a rule that must be retrieved or assumed, and then applied to all values. With Gojo this can simply be inspected, much like integers allow you to ‘inspect’ the number 5. </a:t>
            </a:r>
            <a:endParaRPr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More specifically:</a:t>
            </a:r>
            <a:endParaRPr sz="600">
              <a:solidFill>
                <a:schemeClr val="dk2"/>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nvSpPr>
        <p:spPr>
          <a:xfrm>
            <a:off x="107650" y="963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Why cad</a:t>
            </a:r>
            <a:endParaRPr b="1" sz="2000">
              <a:latin typeface="Staatliches"/>
              <a:ea typeface="Staatliches"/>
              <a:cs typeface="Staatliches"/>
              <a:sym typeface="Staatliches"/>
            </a:endParaRPr>
          </a:p>
        </p:txBody>
      </p:sp>
      <p:sp>
        <p:nvSpPr>
          <p:cNvPr id="101" name="Google Shape;101;p20"/>
          <p:cNvSpPr txBox="1"/>
          <p:nvPr/>
        </p:nvSpPr>
        <p:spPr>
          <a:xfrm>
            <a:off x="4568100" y="418225"/>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chemeClr val="dk2"/>
                </a:solidFill>
                <a:latin typeface="Montserrat"/>
                <a:ea typeface="Montserrat"/>
                <a:cs typeface="Montserrat"/>
                <a:sym typeface="Montserrat"/>
              </a:rPr>
              <a:t>CAD is the crossroads of math, physics and human inspiration</a:t>
            </a:r>
            <a:endParaRPr b="1"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Math and language are considered opposites, because math does not tolerate much ambiguity, and language does not tolerate much math. Engineering is the marrying of the two, where the bridge must support trucks and look pretty, the game pad must survive drops and feel comfortable, and the clothing must be washable, low cost, and come in the latest fall fashions.</a:t>
            </a:r>
            <a:endParaRPr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To create context aware machines, our concepts must accept more rigor, and our math must accommodate more noise. Engineering its the discipline that has always done both of these, and CAD is the language it is encoded in. So in our opinion CAD has the perfect blend to refine our approach to distributed problem solving in environments with both logic, intuition and some je ne sais quoi mixed in.</a:t>
            </a:r>
            <a:br>
              <a:rPr lang="en" sz="600">
                <a:solidFill>
                  <a:schemeClr val="dk2"/>
                </a:solidFill>
                <a:latin typeface="Montserrat"/>
                <a:ea typeface="Montserrat"/>
                <a:cs typeface="Montserrat"/>
                <a:sym typeface="Montserrat"/>
              </a:rPr>
            </a:br>
            <a:endParaRPr sz="600">
              <a:solidFill>
                <a:schemeClr val="dk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07650" y="96325"/>
            <a:ext cx="4572000" cy="321900"/>
          </a:xfrm>
          <a:prstGeom prst="rect">
            <a:avLst/>
          </a:prstGeom>
          <a:noFill/>
          <a:ln>
            <a:noFill/>
          </a:ln>
        </p:spPr>
        <p:txBody>
          <a:bodyPr anchorCtr="0" anchor="ctr" bIns="91425" lIns="91425" spcFirstLastPara="1" rIns="822950" wrap="square" tIns="91425">
            <a:noAutofit/>
          </a:bodyPr>
          <a:lstStyle/>
          <a:p>
            <a:pPr indent="0" lvl="0" marL="0" rtl="0" algn="r">
              <a:spcBef>
                <a:spcPts val="0"/>
              </a:spcBef>
              <a:spcAft>
                <a:spcPts val="0"/>
              </a:spcAft>
              <a:buNone/>
            </a:pPr>
            <a:r>
              <a:rPr b="1" lang="en" sz="2000">
                <a:latin typeface="Staatliches"/>
                <a:ea typeface="Staatliches"/>
                <a:cs typeface="Staatliches"/>
                <a:sym typeface="Staatliches"/>
              </a:rPr>
              <a:t>The goal</a:t>
            </a:r>
            <a:endParaRPr b="1" sz="2000">
              <a:latin typeface="Staatliches"/>
              <a:ea typeface="Staatliches"/>
              <a:cs typeface="Staatliches"/>
              <a:sym typeface="Staatliches"/>
            </a:endParaRPr>
          </a:p>
        </p:txBody>
      </p:sp>
      <p:sp>
        <p:nvSpPr>
          <p:cNvPr id="107" name="Google Shape;107;p21"/>
          <p:cNvSpPr txBox="1"/>
          <p:nvPr/>
        </p:nvSpPr>
        <p:spPr>
          <a:xfrm>
            <a:off x="4568100" y="418225"/>
            <a:ext cx="3000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chemeClr val="dk2"/>
                </a:solidFill>
                <a:latin typeface="Montserrat"/>
                <a:ea typeface="Montserrat"/>
                <a:cs typeface="Montserrat"/>
                <a:sym typeface="Montserrat"/>
              </a:rPr>
              <a:t>Machine Intelligence is not a complex problem, but we have a complex solution</a:t>
            </a:r>
            <a:endParaRPr b="1"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Taking roots of large-ish numbers was long considered one of the hardest problems in the world, yet we now know it is computationally not that complex. Contextual understanding will follow a similar path.</a:t>
            </a:r>
            <a:endParaRPr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It is incredibly complex today because we are one-shotting answers to anything from single large equations. It is amazing it works at all, and one can imagine the first calculator with a similar heuristic needing to be large as well. But the calculator has a good physical representation of the problem, and good problem solving heuristics, and it becomes fairly trivial for modern machines.</a:t>
            </a:r>
            <a:endParaRPr sz="6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600">
                <a:solidFill>
                  <a:schemeClr val="dk2"/>
                </a:solidFill>
                <a:latin typeface="Montserrat"/>
                <a:ea typeface="Montserrat"/>
                <a:cs typeface="Montserrat"/>
                <a:sym typeface="Montserrat"/>
              </a:rPr>
              <a:t>We believe a similar encoding and heuristic exists for conceptual understanding of the world. Mainly it is distributed local problem solving with a good physical encoding of the environment, and a well structured distribution system for information and uncertainty.</a:t>
            </a:r>
            <a:endParaRPr sz="600">
              <a:solidFill>
                <a:schemeClr val="dk2"/>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rPr lang="en" sz="600">
                <a:solidFill>
                  <a:schemeClr val="dk2"/>
                </a:solidFill>
                <a:latin typeface="Montserrat"/>
                <a:ea typeface="Montserrat"/>
                <a:cs typeface="Montserrat"/>
                <a:sym typeface="Montserrat"/>
              </a:rPr>
              <a:t>The goal is machines that actually think, understand, and participate in our progress. Not pseudo people and not super people, but computers that are their own kind of intelligent.</a:t>
            </a:r>
            <a:endParaRPr sz="600">
              <a:solidFill>
                <a:schemeClr val="dk2"/>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